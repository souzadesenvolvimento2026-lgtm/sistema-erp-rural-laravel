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98a83dd6324087" /><Relationship Type="http://schemas.openxmlformats.org/officeDocument/2006/relationships/extended-properties" Target="/docProps/app.xml" Id="R4cdc0c0532514a00" /><Relationship Type="http://schemas.openxmlformats.org/officeDocument/2006/relationships/officeDocument" Target="/ppt/presentation.xml" Id="R59ecf56d8c5341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41df39f6644099"/>
  </p:sldMasterIdLst>
  <p:notesMasterIdLst>
    <p:notesMasterId xmlns:r="http://schemas.openxmlformats.org/officeDocument/2006/relationships" r:id="R0b4537e300544795"/>
  </p:notesMasterIdLst>
  <p:sldIdLst>
    <p:sldId xmlns:r="http://schemas.openxmlformats.org/officeDocument/2006/relationships" id="256" r:id="Re2021ae6acd14163"/>
    <p:sldId xmlns:r="http://schemas.openxmlformats.org/officeDocument/2006/relationships" id="257" r:id="R468bd523c3994687"/>
    <p:sldId xmlns:r="http://schemas.openxmlformats.org/officeDocument/2006/relationships" id="258" r:id="R3a59541ee2264f93"/>
    <p:sldId xmlns:r="http://schemas.openxmlformats.org/officeDocument/2006/relationships" id="259" r:id="R67b1b5ed557e49d6"/>
    <p:sldId xmlns:r="http://schemas.openxmlformats.org/officeDocument/2006/relationships" id="260" r:id="Re395b063a2d041ca"/>
    <p:sldId xmlns:r="http://schemas.openxmlformats.org/officeDocument/2006/relationships" id="261" r:id="R661c9fbdc3014321"/>
    <p:sldId xmlns:r="http://schemas.openxmlformats.org/officeDocument/2006/relationships" id="262" r:id="Rdc762c0165a04307"/>
    <p:sldId xmlns:r="http://schemas.openxmlformats.org/officeDocument/2006/relationships" id="263" r:id="Rdb3ba309f882459e"/>
    <p:sldId xmlns:r="http://schemas.openxmlformats.org/officeDocument/2006/relationships" id="264" r:id="R040e2a428bc14229"/>
    <p:sldId xmlns:r="http://schemas.openxmlformats.org/officeDocument/2006/relationships" id="265" r:id="R72b23e6792394804"/>
    <p:sldId xmlns:r="http://schemas.openxmlformats.org/officeDocument/2006/relationships" id="266" r:id="Rdefdb51c777141b6"/>
    <p:sldId xmlns:r="http://schemas.openxmlformats.org/officeDocument/2006/relationships" id="267" r:id="Ra82502521d8a4952"/>
    <p:sldId xmlns:r="http://schemas.openxmlformats.org/officeDocument/2006/relationships" id="268" r:id="Rb1a0576e169e4b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387c46419344fc" /><Relationship Type="http://schemas.openxmlformats.org/officeDocument/2006/relationships/slideMaster" Target="/ppt/slideMasters/slideMaster1.xml" Id="Rcc41df39f6644099" /><Relationship Type="http://schemas.openxmlformats.org/officeDocument/2006/relationships/notesMaster" Target="/ppt/notesMasters/notesMaster1.xml" Id="R0b4537e300544795" /><Relationship Type="http://schemas.openxmlformats.org/officeDocument/2006/relationships/presProps" Target="/ppt/presProps.xml" Id="Rb49f2aa726d6422e" /><Relationship Type="http://schemas.openxmlformats.org/officeDocument/2006/relationships/tableStyles" Target="/ppt/tableStyles.xml" Id="Rb93aef4ccd7c44e7" /><Relationship Type="http://schemas.openxmlformats.org/officeDocument/2006/relationships/slide" Target="/ppt/slides/slide1.xml" Id="Re2021ae6acd14163" /><Relationship Type="http://schemas.openxmlformats.org/officeDocument/2006/relationships/slide" Target="/ppt/slides/slide2.xml" Id="R468bd523c3994687" /><Relationship Type="http://schemas.openxmlformats.org/officeDocument/2006/relationships/slide" Target="/ppt/slides/slide3.xml" Id="R3a59541ee2264f93" /><Relationship Type="http://schemas.openxmlformats.org/officeDocument/2006/relationships/slide" Target="/ppt/slides/slide4.xml" Id="R67b1b5ed557e49d6" /><Relationship Type="http://schemas.openxmlformats.org/officeDocument/2006/relationships/slide" Target="/ppt/slides/slide5.xml" Id="Re395b063a2d041ca" /><Relationship Type="http://schemas.openxmlformats.org/officeDocument/2006/relationships/slide" Target="/ppt/slides/slide6.xml" Id="R661c9fbdc3014321" /><Relationship Type="http://schemas.openxmlformats.org/officeDocument/2006/relationships/slide" Target="/ppt/slides/slide7.xml" Id="Rdc762c0165a04307" /><Relationship Type="http://schemas.openxmlformats.org/officeDocument/2006/relationships/slide" Target="/ppt/slides/slide8.xml" Id="Rdb3ba309f882459e" /><Relationship Type="http://schemas.openxmlformats.org/officeDocument/2006/relationships/slide" Target="/ppt/slides/slide9.xml" Id="R040e2a428bc14229" /><Relationship Type="http://schemas.openxmlformats.org/officeDocument/2006/relationships/slide" Target="/ppt/slides/slide10.xml" Id="R72b23e6792394804" /><Relationship Type="http://schemas.openxmlformats.org/officeDocument/2006/relationships/slide" Target="/ppt/slides/slide11.xml" Id="Rdefdb51c777141b6" /><Relationship Type="http://schemas.openxmlformats.org/officeDocument/2006/relationships/slide" Target="/ppt/slides/slide12.xml" Id="Ra82502521d8a4952" /><Relationship Type="http://schemas.openxmlformats.org/officeDocument/2006/relationships/slide" Target="/ppt/slides/slide13.xml" Id="Rb1a0576e169e4b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18d53a74b446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4fd387a5e748ba" /><Relationship Type="http://schemas.openxmlformats.org/officeDocument/2006/relationships/notesMaster" Target="/ppt/notesMasters/notesMaster1.xml" Id="Rd2f087f4f51940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e34ab47e5041a9" /><Relationship Type="http://schemas.openxmlformats.org/officeDocument/2006/relationships/notesMaster" Target="/ppt/notesMasters/notesMaster1.xml" Id="Rb644f4016a764a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6a9bf759eb4603" /><Relationship Type="http://schemas.openxmlformats.org/officeDocument/2006/relationships/notesMaster" Target="/ppt/notesMasters/notesMaster1.xml" Id="R1d29f5df1b1241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92635503d6493f" /><Relationship Type="http://schemas.openxmlformats.org/officeDocument/2006/relationships/notesMaster" Target="/ppt/notesMasters/notesMaster1.xml" Id="R2fd0642971f942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8331dab7d8407b" /><Relationship Type="http://schemas.openxmlformats.org/officeDocument/2006/relationships/notesMaster" Target="/ppt/notesMasters/notesMaster1.xml" Id="Rc7ae0acef3d545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2f7f807b02454f" /><Relationship Type="http://schemas.openxmlformats.org/officeDocument/2006/relationships/notesMaster" Target="/ppt/notesMasters/notesMaster1.xml" Id="Rc3f22cd0a88743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3cbf2343fe408f" /><Relationship Type="http://schemas.openxmlformats.org/officeDocument/2006/relationships/notesMaster" Target="/ppt/notesMasters/notesMaster1.xml" Id="R76704bf54bf141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d1cf72bf0743f9" /><Relationship Type="http://schemas.openxmlformats.org/officeDocument/2006/relationships/notesMaster" Target="/ppt/notesMasters/notesMaster1.xml" Id="R5669ff2d5a9846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be68f856624374" /><Relationship Type="http://schemas.openxmlformats.org/officeDocument/2006/relationships/notesMaster" Target="/ppt/notesMasters/notesMaster1.xml" Id="R5a6d31e4d49442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145a3dcf90423b" /><Relationship Type="http://schemas.openxmlformats.org/officeDocument/2006/relationships/notesMaster" Target="/ppt/notesMasters/notesMaster1.xml" Id="Red35755705a24e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e2c0c2ffa44691" /><Relationship Type="http://schemas.openxmlformats.org/officeDocument/2006/relationships/notesMaster" Target="/ppt/notesMasters/notesMaster1.xml" Id="R21cc0d4b962144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9e5b351b8645fa" /><Relationship Type="http://schemas.openxmlformats.org/officeDocument/2006/relationships/notesMaster" Target="/ppt/notesMasters/notesMaster1.xml" Id="R0cb437e98b604b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04bd0308014b92" /><Relationship Type="http://schemas.openxmlformats.org/officeDocument/2006/relationships/notesMaster" Target="/ppt/notesMasters/notesMaster1.xml" Id="Radb137ec3c004e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b23a6d113b4e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75a3fbcc104998" /><Relationship Type="http://schemas.openxmlformats.org/officeDocument/2006/relationships/slideLayout" Target="/ppt/slideLayouts/slideLayout1.xml" Id="R7d2904b5d59249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2904b5d59249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30a851e4e4546" /><Relationship Type="http://schemas.openxmlformats.org/officeDocument/2006/relationships/image" Target="/ppt/media/image.png" Id="R6099385212f54a7e" /><Relationship Type="http://schemas.openxmlformats.org/officeDocument/2006/relationships/notesSlide" Target="/ppt/notesSlides/notesSlide1.xml" Id="Rb1971963db0847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ba40e12fa4ed0" /><Relationship Type="http://schemas.openxmlformats.org/officeDocument/2006/relationships/notesSlide" Target="/ppt/notesSlides/notesSlide2.xml" Id="R0377ff05f08e49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ba16fb5d14684" /><Relationship Type="http://schemas.openxmlformats.org/officeDocument/2006/relationships/image" Target="/ppt/media/image2.png" Id="Rb727b1bbf2a54906" /><Relationship Type="http://schemas.openxmlformats.org/officeDocument/2006/relationships/notesSlide" Target="/ppt/notesSlides/notesSlide3.xml" Id="R49a930fd5d1049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e422db4bd4338" /><Relationship Type="http://schemas.openxmlformats.org/officeDocument/2006/relationships/image" Target="/ppt/media/image3.png" Id="R52702d493d3e48c7" /><Relationship Type="http://schemas.openxmlformats.org/officeDocument/2006/relationships/notesSlide" Target="/ppt/notesSlides/notesSlide4.xml" Id="R6df3d03da0324f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de8f107454e9b" /><Relationship Type="http://schemas.openxmlformats.org/officeDocument/2006/relationships/image" Target="/ppt/media/image4.png" Id="R35f69b87d7774afb" /><Relationship Type="http://schemas.openxmlformats.org/officeDocument/2006/relationships/notesSlide" Target="/ppt/notesSlides/notesSlide5.xml" Id="Raf1bafdc308246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70e065118421f" /><Relationship Type="http://schemas.openxmlformats.org/officeDocument/2006/relationships/notesSlide" Target="/ppt/notesSlides/notesSlide6.xml" Id="R5de5bd90321e4d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5d45084a74661" /><Relationship Type="http://schemas.openxmlformats.org/officeDocument/2006/relationships/notesSlide" Target="/ppt/notesSlides/notesSlide7.xml" Id="R3f6a4b696d9a40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2c7ae29b6464f" /><Relationship Type="http://schemas.openxmlformats.org/officeDocument/2006/relationships/image" Target="/ppt/media/image5.png" Id="Rbd000b863c974dd0" /><Relationship Type="http://schemas.openxmlformats.org/officeDocument/2006/relationships/notesSlide" Target="/ppt/notesSlides/notesSlide8.xml" Id="Rfd7c16eb134749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a11254fe9450c" /><Relationship Type="http://schemas.openxmlformats.org/officeDocument/2006/relationships/image" Target="/ppt/media/image6.png" Id="Rc7952ab667da4704" /><Relationship Type="http://schemas.openxmlformats.org/officeDocument/2006/relationships/notesSlide" Target="/ppt/notesSlides/notesSlide9.xml" Id="R36a368593cae41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a943cc5f54892" /><Relationship Type="http://schemas.openxmlformats.org/officeDocument/2006/relationships/image" Target="/ppt/media/image7.png" Id="R7fadb9bbe7eb4344" /><Relationship Type="http://schemas.openxmlformats.org/officeDocument/2006/relationships/notesSlide" Target="/ppt/notesSlides/notesSlide10.xml" Id="Raf8e9e2352344b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0a1a5513f4764" /><Relationship Type="http://schemas.openxmlformats.org/officeDocument/2006/relationships/image" Target="/ppt/media/image8.png" Id="R2c2e6b4b12924bbd" /><Relationship Type="http://schemas.openxmlformats.org/officeDocument/2006/relationships/notesSlide" Target="/ppt/notesSlides/notesSlide11.xml" Id="R408596333b0a40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e4be7f6354713" /><Relationship Type="http://schemas.openxmlformats.org/officeDocument/2006/relationships/notesSlide" Target="/ppt/notesSlides/notesSlide12.xml" Id="R2fa809e0173448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45b675069406b" /><Relationship Type="http://schemas.openxmlformats.org/officeDocument/2006/relationships/notesSlide" Target="/ppt/notesSlides/notesSlide13.xml" Id="R9a2f25158be946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AD8DA-D78E-4510-8BF6-5717326C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6"/>
          </a:solidFill>
          <a:ln xmlns:a="http://schemas.openxmlformats.org/drawingml/2006/main" w="0">
            <a:solidFill>
              <a:srgbClr val="F4F7F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EDA52-0EB5-4F01-A24A-0D743C5F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9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B36"/>
          </a:solidFill>
          <a:ln xmlns:a="http://schemas.openxmlformats.org/drawingml/2006/main" w="0">
            <a:solidFill>
              <a:srgbClr val="004B3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F1D0A-DF7E-462F-8405-26B417C2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763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33A80-31BA-406C-A99B-2F9F57E3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7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FarmFort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A9D69-84CA-49AC-82FB-0154AD04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066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8F5DF"/>
                </a:solidFill>
              </a:defRPr>
            </a:pPr>
            <a:r>
              <a:rPr sz="1200" b="1">
                <a:solidFill>
                  <a:srgbClr val="B8F5DF"/>
                </a:solidFill>
              </a:rPr>
              <a:t>ERP RURAL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8B62F-DCD3-4DFE-88F6-B3D2D754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Fluxo de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Pedidos Fiscais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F98E4-83A1-44B0-B50F-031045BE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4F7EB"/>
                </a:solidFill>
              </a:defRPr>
            </a:pPr>
            <a:r>
              <a:rPr sz="1575" b="0">
                <a:solidFill>
                  <a:srgbClr val="D4F7EB"/>
                </a:solidFill>
              </a:rPr>
              <a:t>Compras, conferência fiscal, aprovação, lançamento financeiro e baixa com conta real.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FCA6B-46E0-4864-8F79-E65A94FD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42950"/>
            <a:ext cx="6724650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9385212f54a7e"/>
          <a:srcRect xmlns:a="http://schemas.openxmlformats.org/drawingml/2006/main" l="3549" t="0" r="35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819150"/>
            <a:ext cx="6572250" cy="3695700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8AC62-069F-485E-906E-EE7B9DCC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3638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Material para apresentação ao solicitante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4EDBF-43A2-4227-BDC1-2E754718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34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Versão Laravel • FarmFort</a:t>
            </a:r>
          </a:p>
        </p:txBody>
      </p:sp>
    </p:spTree>
    <p:extLst>
      <p:ext uri="{BB962C8B-B14F-4D97-AF65-F5344CB8AC3E}">
        <p14:creationId xmlns:p14="http://schemas.microsoft.com/office/powerpoint/2010/main" val="3429807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D15698-824D-40D6-997A-4A1E81DA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966C"/>
                </a:solidFill>
              </a:defRPr>
            </a:pPr>
            <a:r>
              <a:rPr sz="1050" b="1">
                <a:solidFill>
                  <a:srgbClr val="00966C"/>
                </a:solidFill>
              </a:rPr>
              <a:t>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91416-35BE-47AD-B0A8-41359658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2A"/>
                </a:solidFill>
              </a:defRPr>
            </a:pPr>
            <a:r>
              <a:rPr sz="2700" b="1">
                <a:solidFill>
                  <a:srgbClr val="0B1F2A"/>
                </a:solidFill>
              </a:rPr>
              <a:t>O fluxo separa pedido, nota fiscal e pagamento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82499-66B7-4CE3-873E-A080CE21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2B3F9-9BF4-4A91-A644-A9F1434C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52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Compras • Fiscal • Fin.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B5BE4-571B-4159-ABCF-1F05F776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Fluxo de Pedidos Fiscais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40272-E884-4FE1-BECA-4457DBF9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966C"/>
                </a:solidFill>
              </a:defRPr>
            </a:pPr>
            <a:r>
              <a:rPr sz="1350" b="1">
                <a:solidFill>
                  <a:srgbClr val="00966C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89039-2334-4D38-B64F-C3CBAC6F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B1F2A"/>
                </a:solidFill>
              </a:defRPr>
            </a:pPr>
            <a:r>
              <a:rPr sz="1650" b="0">
                <a:solidFill>
                  <a:srgbClr val="0B1F2A"/>
                </a:solidFill>
              </a:rPr>
              <a:t>A proposta organiza o processo sem misturar responsabilidades: o pedido nasce em Compras, a NF é conferida no Fiscal, a aprovação gera a despesa e a baixa só acontece no Financeiro com conta real.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4FD26-C5E3-4734-A434-A0950F3C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676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0A86B-3E9E-4FE3-9920-2598515C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EBF6D-903D-48E7-8415-2186700A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92E47-2F5E-4851-8BE8-A5CF28A9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2A"/>
                </a:solidFill>
              </a:defRPr>
            </a:pPr>
            <a:r>
              <a:rPr sz="1650" b="1">
                <a:solidFill>
                  <a:srgbClr val="0B1F2A"/>
                </a:solidFill>
              </a:rPr>
              <a:t>Pedido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EEC9D-7F99-40B6-BE30-0E45B558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Itens, fornecedor e valores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061B5-B4C4-4268-935E-D2F36941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57500"/>
            <a:ext cx="1676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29F4D-5517-4D0B-A9CC-B2B67FEF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48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CAB2B-448D-4939-8FF5-41FBCF48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051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C13AA-45C4-48C7-B320-0E49A1EE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19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2A"/>
                </a:solidFill>
              </a:defRPr>
            </a:pPr>
            <a:r>
              <a:rPr sz="1650" b="1">
                <a:solidFill>
                  <a:srgbClr val="0B1F2A"/>
                </a:solidFill>
              </a:rPr>
              <a:t>NF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C07AB-6120-48F4-B939-65633BAC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62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Vínculo ou importação XML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C29F4-951D-40DD-A1B2-B7D98BFE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1676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D519BA-246C-41A4-A016-FE48550A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C739F-1F42-4C46-938A-27D74645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051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6D5601-E342-4456-955A-65E900A5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2A"/>
                </a:solidFill>
              </a:defRPr>
            </a:pPr>
            <a:r>
              <a:rPr sz="1650" b="1">
                <a:solidFill>
                  <a:srgbClr val="0B1F2A"/>
                </a:solidFill>
              </a:rPr>
              <a:t>Aprovação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8EEC7-62C0-4688-B6D3-DB272428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62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Gestor valida ou rejeita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58B79-ECAB-4C4D-A27B-4E48F515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57500"/>
            <a:ext cx="1676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B9D42E-3904-48D3-9E11-B856F97C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580E73-B706-4894-BE60-5B9B01DD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66A74F-847F-4BE6-99AD-ADC955CB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19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2A"/>
                </a:solidFill>
              </a:defRPr>
            </a:pPr>
            <a:r>
              <a:rPr sz="1650" b="1">
                <a:solidFill>
                  <a:srgbClr val="0B1F2A"/>
                </a:solidFill>
              </a:rPr>
              <a:t>Financeiro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541B42-D125-46DD-898A-1D641578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62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Despesa e vencimento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5A39B7-CD0D-4681-B7A3-C968C443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57500"/>
            <a:ext cx="1676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0BF6B4-D724-43EC-B391-37F9ABFE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48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2C100D-195B-4AE6-B106-FE79F00B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051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82767A-F9FA-42AE-8094-6FD8B973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19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2A"/>
                </a:solidFill>
              </a:defRPr>
            </a:pPr>
            <a:r>
              <a:rPr sz="1650" b="1">
                <a:solidFill>
                  <a:srgbClr val="0B1F2A"/>
                </a:solidFill>
              </a:rPr>
              <a:t>Baixa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E6FEB0-FA5F-47A8-B6A8-98D78DA3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62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Conta real obrigatória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134E86-3C7F-4E4D-A4D8-4BE8BFAE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57500"/>
            <a:ext cx="1676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82FCF0-74B4-444B-8E5D-4A8B930D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48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6317E2-55C8-4E27-8030-D8ADB7A6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051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6CCEA5-F9E9-43EE-9721-EC1D5F75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19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2A"/>
                </a:solidFill>
              </a:defRPr>
            </a:pPr>
            <a:r>
              <a:rPr sz="1650" b="1">
                <a:solidFill>
                  <a:srgbClr val="0B1F2A"/>
                </a:solidFill>
              </a:rPr>
              <a:t>Auditoria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0DDAEC-D8C3-464C-96CB-3EE88833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62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Rastro das ações críticas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0F80C2-DA66-4AC6-979D-3F1231BC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00600"/>
            <a:ext cx="971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E41CF5-E7DF-48B9-9E4A-387E4D71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72050"/>
            <a:ext cx="762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CB86B8-C80D-409A-ABC1-5DA73DB5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72050"/>
            <a:ext cx="916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Mensagem central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C1640F-FB3E-4832-8D04-20E3096D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916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O sistema fica mais seguro porque cada etapa tem dono, validação e rastreabilidade — e ainda permanece simples para o usuário operacional.</a:t>
            </a:r>
          </a:p>
        </p:txBody>
      </p:sp>
    </p:spTree>
    <p:extLst>
      <p:ext uri="{BB962C8B-B14F-4D97-AF65-F5344CB8AC3E}">
        <p14:creationId xmlns:p14="http://schemas.microsoft.com/office/powerpoint/2010/main" val="1979107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5B2CB-3418-48B4-A341-9156DF53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966C"/>
                </a:solidFill>
              </a:defRPr>
            </a:pPr>
            <a:r>
              <a:rPr sz="1050" b="1">
                <a:solidFill>
                  <a:srgbClr val="00966C"/>
                </a:solidFill>
              </a:rPr>
              <a:t>COMPRAS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90E0E-1027-4624-A92E-1786DE27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2A"/>
                </a:solidFill>
              </a:defRPr>
            </a:pPr>
            <a:r>
              <a:rPr sz="2700" b="1">
                <a:solidFill>
                  <a:srgbClr val="0B1F2A"/>
                </a:solidFill>
              </a:rPr>
              <a:t>A tela de pedidos concentra criação, filtros e situação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00B44-00E0-4E0E-B71B-405E3B60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37B22-78E0-4B45-BD23-49793C2E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52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Compras • Fiscal • Fin.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C37C1-0C0F-47FC-8707-DEEA67C3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Fluxo de Pedidos Fiscais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672D0-FB01-4F1F-BAF0-44CB459C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966C"/>
                </a:solidFill>
              </a:defRPr>
            </a:pPr>
            <a:r>
              <a:rPr sz="1350" b="1">
                <a:solidFill>
                  <a:srgbClr val="00966C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77AA0-441D-4892-934C-078D13AE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7962900" cy="455295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7b1bbf2a54906"/>
          <a:srcRect xmlns:a="http://schemas.openxmlformats.org/drawingml/2006/main" l="3639" t="0" r="36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466850"/>
            <a:ext cx="7810500" cy="4400550"/>
          </a:xfrm>
          <a:prstGeom xmlns:a="http://schemas.openxmlformats.org/drawingml/2006/main" prst="roundRect">
            <a:avLst>
              <a:gd name="adj" fmla="val 173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8A1A4-E49A-4726-B4A9-C481FCC7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2415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EF44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B7E38-7ACA-43B7-B249-00774F3A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24100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+ Novo Pedido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D2646-3DC4-44D3-B13D-B8F3DE81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62100"/>
            <a:ext cx="2857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A2237-94BC-44CE-86B3-EFB70B14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3355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C0A6A-1C3B-40D5-84F4-0C533C1E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335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Uso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FA133-A71C-4DB1-B735-9A3F2E23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O usuário abre Compras &gt; Pedidos Fiscais e acompanha todos os pedidos da propriedade.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CB8B4-A5B6-4967-ACDF-9D2CF4B9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705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2A"/>
                </a:solidFill>
              </a:defRPr>
            </a:pPr>
            <a:r>
              <a:rPr sz="1350" b="0">
                <a:solidFill>
                  <a:srgbClr val="0B1F2A"/>
                </a:solidFill>
              </a:rPr>
              <a:t>• Filtros por status, período e fornecedor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F2A"/>
                </a:solidFill>
              </a:defRPr>
            </a:pPr>
            <a:r>
              <a:rPr sz="1350" b="0">
                <a:solidFill>
                  <a:srgbClr val="0B1F2A"/>
                </a:solidFill>
              </a:rPr>
              <a:t>• Cards de pedidos, pendentes e aprovados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F2A"/>
                </a:solidFill>
              </a:defRPr>
            </a:pPr>
            <a:r>
              <a:rPr sz="1350" b="0">
                <a:solidFill>
                  <a:srgbClr val="0B1F2A"/>
                </a:solidFill>
              </a:rPr>
              <a:t>• Ações de abrir, aprovar ou rejeitar conforme perfil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67D60-C76C-48ED-B30B-D2849189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2920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Pendente aparece para o gestor</a:t>
            </a:r>
          </a:p>
        </p:txBody>
      </p:sp>
    </p:spTree>
    <p:extLst>
      <p:ext uri="{BB962C8B-B14F-4D97-AF65-F5344CB8AC3E}">
        <p14:creationId xmlns:p14="http://schemas.microsoft.com/office/powerpoint/2010/main" val="14734705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0A7536-8852-4DC3-BB32-63F8EA81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966C"/>
                </a:solidFill>
              </a:defRPr>
            </a:pPr>
            <a:r>
              <a:rPr sz="1050" b="1">
                <a:solidFill>
                  <a:srgbClr val="00966C"/>
                </a:solidFill>
              </a:rPr>
              <a:t>CADASTRO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19E32-82A0-49E3-8B50-5D8C308E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2A"/>
                </a:solidFill>
              </a:defRPr>
            </a:pPr>
            <a:r>
              <a:rPr sz="2700" b="1">
                <a:solidFill>
                  <a:srgbClr val="0B1F2A"/>
                </a:solidFill>
              </a:rPr>
              <a:t>O pedido nasce com fornecedor e itens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409C4-D335-49A0-9111-37F79FC5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9BAB4-1A9B-432E-8872-4CE0CEFE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52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Compras • Fiscal • Fin.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4EF66-625C-4ACB-8BD2-5B737D92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Fluxo de Pedidos Fiscais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1405C-EC27-410C-BBAF-062F6C7F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966C"/>
                </a:solidFill>
              </a:defRPr>
            </a:pPr>
            <a:r>
              <a:rPr sz="1350" b="1">
                <a:solidFill>
                  <a:srgbClr val="00966C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33C7C-E162-4967-914E-DF9B586F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5105400" cy="44196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02d493d3e48c7"/>
          <a:stretch xmlns:a="http://schemas.openxmlformats.org/drawingml/2006/main"/>
        </p:blipFill>
        <p:spPr>
          <a:xfrm xmlns:a="http://schemas.openxmlformats.org/drawingml/2006/main">
            <a:off x="552450" y="1834655"/>
            <a:ext cx="4953000" cy="353159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0E5DA-F4DB-499D-9779-4024BEE7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533900" cy="1123950"/>
          </a:xfrm>
          <a:prstGeom xmlns:a="http://schemas.openxmlformats.org/drawingml/2006/main" prst="roundRect">
            <a:avLst>
              <a:gd name="adj" fmla="val 6780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EF44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541D2-119D-4939-85BB-94876A91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6097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Itens do pedido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B21A7-D99D-43BF-8162-9BF63CC2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62100"/>
            <a:ext cx="5143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9261D-3674-47BD-B7A6-3A81CA23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3355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88FDC-DA3F-4D5C-9161-5C258FDF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335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Campos essenciais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B9CBD-44E8-4F22-B535-DF8D4962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459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Fornecedor, CNPJ, data, tipo do pedido, observações e itens com categoria, unidade, quantidade e valor.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B8669-23C9-4F04-A24C-E7E7D8E1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5143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10082-EE37-4BB9-9C7B-B0B2CA5A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2895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FFEBB-3F2B-47E0-8E0F-B0FCBD7D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89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Quando houver NF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DD7C2-2792-4C76-B7CC-25477925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459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O usuário marca a opção de vincular ou importar NF antes da aprovação. Assim o pedido continua aberto para conferência fiscal.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B465F2-EAC7-4461-87AA-4D9A88A7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10050"/>
            <a:ext cx="5143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7C7866-6E77-4838-A32F-589F1BF5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8150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3A5485-B10A-4313-9B10-2C69B8AE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815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Resultado esperado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225613-7296-4D42-A947-71BA84F5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62500"/>
            <a:ext cx="459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Pedido criado com status correto: aprovado automaticamente para gestor quando permitido, ou aguardando aprovação para perfil operacional.</a:t>
            </a:r>
          </a:p>
        </p:txBody>
      </p:sp>
    </p:spTree>
    <p:extLst>
      <p:ext uri="{BB962C8B-B14F-4D97-AF65-F5344CB8AC3E}">
        <p14:creationId xmlns:p14="http://schemas.microsoft.com/office/powerpoint/2010/main" val="10764049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1CDB7-B9E3-47F5-BCDE-5EE5CA7C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966C"/>
                </a:solidFill>
              </a:defRPr>
            </a:pPr>
            <a:r>
              <a:rPr sz="1050" b="1">
                <a:solidFill>
                  <a:srgbClr val="00966C"/>
                </a:solidFill>
              </a:rPr>
              <a:t>HIERARQUIA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16489-37E3-4847-B8F4-334C6D08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2A"/>
                </a:solidFill>
              </a:defRPr>
            </a:pPr>
            <a:r>
              <a:rPr sz="2700" b="1">
                <a:solidFill>
                  <a:srgbClr val="0B1F2A"/>
                </a:solidFill>
              </a:rPr>
              <a:t>A aprovação depende do perfil e gera aviso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46E78-D545-4654-8D2B-ED925BDC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611DE-C9C1-4D34-B5B9-985A90F0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52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Compras • Fiscal • Fin.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FA22F-B1BD-4ACA-832A-1CA92176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Fluxo de Pedidos Fiscais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98A05-9E4A-4805-9A35-903E50A4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966C"/>
                </a:solidFill>
              </a:defRPr>
            </a:pPr>
            <a:r>
              <a:rPr sz="1350" b="1">
                <a:solidFill>
                  <a:srgbClr val="00966C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E2686-F6D1-491E-8F88-981A3DF7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7581900" cy="4362450"/>
          </a:xfrm>
          <a:prstGeom xmlns:a="http://schemas.openxmlformats.org/drawingml/2006/main" prst="roundRect">
            <a:avLst>
              <a:gd name="adj" fmla="val 2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69b87d7774afb"/>
          <a:srcRect xmlns:a="http://schemas.openxmlformats.org/drawingml/2006/main" l="3790" t="0" r="37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466850"/>
            <a:ext cx="7429500" cy="4210050"/>
          </a:xfrm>
          <a:prstGeom xmlns:a="http://schemas.openxmlformats.org/drawingml/2006/main" prst="roundRect">
            <a:avLst>
              <a:gd name="adj" fmla="val 181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A2CB1-26D6-4069-8ECB-D6E2BFFF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62375"/>
            <a:ext cx="1047750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EF44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D378B-D47A-43CA-A2EF-CBBEF94C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62325"/>
            <a:ext cx="9239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Aprovar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F12AE-62B9-46FD-A601-6146EB58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57350"/>
            <a:ext cx="2952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2A"/>
                </a:solidFill>
              </a:defRPr>
            </a:pPr>
            <a:r>
              <a:rPr sz="1350" b="0">
                <a:solidFill>
                  <a:srgbClr val="0B1F2A"/>
                </a:solidFill>
              </a:rPr>
              <a:t>• Gestão, financeiro e administração podem aprovar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F2A"/>
                </a:solidFill>
              </a:defRPr>
            </a:pPr>
            <a:r>
              <a:rPr sz="1350" b="0">
                <a:solidFill>
                  <a:srgbClr val="0B1F2A"/>
                </a:solidFill>
              </a:rPr>
              <a:t>• Perfis operacionais criam pedidos para revisão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F2A"/>
                </a:solidFill>
              </a:defRPr>
            </a:pPr>
            <a:r>
              <a:rPr sz="1350" b="0">
                <a:solidFill>
                  <a:srgbClr val="0B1F2A"/>
                </a:solidFill>
              </a:rPr>
              <a:t>• Pendências aparecem na tela para o gestor agir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F2A"/>
                </a:solidFill>
              </a:defRPr>
            </a:pPr>
            <a:r>
              <a:rPr sz="1350" b="0">
                <a:solidFill>
                  <a:srgbClr val="0B1F2A"/>
                </a:solidFill>
              </a:rPr>
              <a:t>• Rejeição exige motivo e fica auditada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89B89-AA62-4373-B315-C7CADF71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52900"/>
            <a:ext cx="2952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6F3F3-2EC1-435D-9004-A6885450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2435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F86BA-ECA8-4008-BCB8-9DE4413B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243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Regra importante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D9B89-3940-478D-8D5E-1A3DDB60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053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Gestor que cria pedido sem exigir NF antes da aprovação pode gerar a despesa automaticamente.</a:t>
            </a:r>
          </a:p>
        </p:txBody>
      </p:sp>
    </p:spTree>
    <p:extLst>
      <p:ext uri="{BB962C8B-B14F-4D97-AF65-F5344CB8AC3E}">
        <p14:creationId xmlns:p14="http://schemas.microsoft.com/office/powerpoint/2010/main" val="2059704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777635-8C79-4D2B-9B82-12F545F4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966C"/>
                </a:solidFill>
              </a:defRPr>
            </a:pPr>
            <a:r>
              <a:rPr sz="1050" b="1">
                <a:solidFill>
                  <a:srgbClr val="00966C"/>
                </a:solidFill>
              </a:rPr>
              <a:t>FISCAL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895D2-5192-4915-8E6A-BA03BBD4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2A"/>
                </a:solidFill>
              </a:defRPr>
            </a:pPr>
            <a:r>
              <a:rPr sz="2700" b="1">
                <a:solidFill>
                  <a:srgbClr val="0B1F2A"/>
                </a:solidFill>
              </a:rPr>
              <a:t>A nota fiscal entra como conferência, não como pagamento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CB9B6-79A7-4005-A75E-30D65E21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DF6EA-DAD0-491A-909F-D03ACEDB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52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Compras • Fiscal • Fin.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6274C-1B50-45F6-9603-80F171A9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Fluxo de Pedidos Fiscais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A5D10-C1A5-4787-8B75-265BEEE0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966C"/>
                </a:solidFill>
              </a:defRPr>
            </a:pPr>
            <a:r>
              <a:rPr sz="1350" b="1">
                <a:solidFill>
                  <a:srgbClr val="00966C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CF1C9-4A4B-4165-9E95-034A7E1A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143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C172E-1267-4937-AD38-44C1AE7E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76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DACD1-AFF1-4806-AB31-6F244039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16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Vincular NF existente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3BC14-B7F5-4527-8670-06A4D54B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Seleciona uma nota já lançada no módulo Fiscal e associa ao pedido aprovado.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DAC0F-ED30-44B4-85F2-791F7FD3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00200"/>
            <a:ext cx="3143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D76ED-9E63-4A63-BB3B-053CA7FE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71650"/>
            <a:ext cx="76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86B77-CBDF-4D4E-AE8B-F386BAB9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716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Importar XML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28EEA-9D9A-4266-B6B6-391802CD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5265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Permite comparar fornecedor, CNPJ, itens e valores antes de aprovar.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0E4B9-0743-4424-A262-58D24485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00200"/>
            <a:ext cx="3143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95A6D-1D33-4181-9972-1A71A6DA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71650"/>
            <a:ext cx="76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E3AB8-3F6E-45E7-BBAF-49EE826D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716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Divergência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D3C09-12EB-40CD-8AD9-C7A0580A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5265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Quando valores ou dados não batem, o sistema pede confirmação reforçada.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D1790B-31E2-44FA-9F59-D2CCBAAB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576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2A"/>
                </a:solidFill>
              </a:defRPr>
            </a:pPr>
            <a:r>
              <a:rPr sz="1800" b="1">
                <a:solidFill>
                  <a:srgbClr val="0B1F2A"/>
                </a:solidFill>
              </a:rPr>
              <a:t>Pedido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876F9D-94B4-4996-8C81-493896BB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004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00966C"/>
                </a:solidFill>
              </a:defRPr>
            </a:pPr>
            <a:r>
              <a:rPr sz="2850" b="1">
                <a:solidFill>
                  <a:srgbClr val="00966C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0A7B92-23C0-489B-B86A-A766A79D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576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2A"/>
                </a:solidFill>
              </a:defRPr>
            </a:pPr>
            <a:r>
              <a:rPr sz="1800" b="1">
                <a:solidFill>
                  <a:srgbClr val="0B1F2A"/>
                </a:solidFill>
              </a:rPr>
              <a:t>Nota Fiscal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BF4FC-580B-4B23-808B-DF534C38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004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00966C"/>
                </a:solidFill>
              </a:defRPr>
            </a:pPr>
            <a:r>
              <a:rPr sz="2850" b="1">
                <a:solidFill>
                  <a:srgbClr val="00966C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AB3F59-61AF-49EE-9BCA-F5772D63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2A"/>
                </a:solidFill>
              </a:defRPr>
            </a:pPr>
            <a:r>
              <a:rPr sz="1800" b="1">
                <a:solidFill>
                  <a:srgbClr val="0B1F2A"/>
                </a:solidFill>
              </a:rPr>
              <a:t>Conferência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0D8F88-41F2-422F-BEDA-EB215DEA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00966C"/>
                </a:solidFill>
              </a:defRPr>
            </a:pPr>
            <a:r>
              <a:rPr sz="2850" b="1">
                <a:solidFill>
                  <a:srgbClr val="00966C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EB49A-2519-46B7-B918-10A5E8CA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576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2A"/>
                </a:solidFill>
              </a:defRPr>
            </a:pPr>
            <a:r>
              <a:rPr sz="1800" b="1">
                <a:solidFill>
                  <a:srgbClr val="0B1F2A"/>
                </a:solidFill>
              </a:rPr>
              <a:t>Aprovação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4CBCF8-EB00-44AF-823E-700FA3DF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81550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C02720-8D2F-44E2-9F2C-0CAD4B02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5300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F9343C-CAD8-43AB-893F-D6AC8FAA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802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Decisão de processo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8EDB8B-29A3-4315-85E9-1906E144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802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A NF valida a compra; o pagamento continua acontecendo apenas no Financeiro, na baixa da despesa, com conta real selecionada.</a:t>
            </a:r>
          </a:p>
        </p:txBody>
      </p:sp>
    </p:spTree>
    <p:extLst>
      <p:ext uri="{BB962C8B-B14F-4D97-AF65-F5344CB8AC3E}">
        <p14:creationId xmlns:p14="http://schemas.microsoft.com/office/powerpoint/2010/main" val="4732846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3C1210-F402-443F-BF4C-2CA5CA79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966C"/>
                </a:solidFill>
              </a:defRPr>
            </a:pPr>
            <a:r>
              <a:rPr sz="1050" b="1">
                <a:solidFill>
                  <a:srgbClr val="00966C"/>
                </a:solidFill>
              </a:rPr>
              <a:t>CONTROLES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E2391-46C7-434C-9F7B-1AA9AF3F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2A"/>
                </a:solidFill>
              </a:defRPr>
            </a:pPr>
            <a:r>
              <a:rPr sz="2700" b="1">
                <a:solidFill>
                  <a:srgbClr val="0B1F2A"/>
                </a:solidFill>
              </a:rPr>
              <a:t>Confirmações evitam erro antes do financeiro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E744C-EA92-4C44-B88B-7CA1C35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537A7-9575-4D3A-9262-7A60CD54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52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Compras • Fiscal • Fin.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D8343-7E33-4D24-B8B0-41DFE48F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Fluxo de Pedidos Fiscais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C3C42-FC81-448A-96E2-79F35FA7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966C"/>
                </a:solidFill>
              </a:defRPr>
            </a:pPr>
            <a:r>
              <a:rPr sz="1350" b="1">
                <a:solidFill>
                  <a:srgbClr val="00966C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D1215-AF42-4088-A0C7-7AD0D3EC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0191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9E427-87B9-4406-8E83-294AD3F4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9070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C130B-F888-457F-BFFB-9E2B7D92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90700"/>
            <a:ext cx="963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Sem NF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811E5-92C9-4FD6-8FCD-22EC49FA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71700"/>
            <a:ext cx="963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Aprovar sem nota exige confirmação clara para evitar lançamento antecipado indevido.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A4F61-301D-4587-93FF-C2CF8E64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10191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F23B5-356F-43AD-965C-13D42A2A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ACC06-EE38-4858-82B7-450AA71D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86100"/>
            <a:ext cx="963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Com divergência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23FE9-9808-47AF-A805-1F27B1C9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963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Diferença de CNPJ, fornecedor, item ou valor exige confirmação reforçada antes da aprovação.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EA2767-D31D-4BCF-BF4A-C1E3D712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10191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3D1E0-6BD7-4D1D-99FB-3D813B54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D6617-822C-4E13-B375-599B44DF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81500"/>
            <a:ext cx="963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Rejeição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B329AA-4FD6-4C8E-B030-DBFEC187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963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Pedido ou NF podem ser rejeitados com motivo, mantendo histórico e auditoria.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B0EE3-75B2-43C0-8712-FCCDEA72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00700"/>
            <a:ext cx="609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Não altera regras financeiras: só aumenta clareza e rastreabilidade</a:t>
            </a:r>
          </a:p>
        </p:txBody>
      </p:sp>
    </p:spTree>
    <p:extLst>
      <p:ext uri="{BB962C8B-B14F-4D97-AF65-F5344CB8AC3E}">
        <p14:creationId xmlns:p14="http://schemas.microsoft.com/office/powerpoint/2010/main" val="12492841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03643-C794-4ABE-BEEF-8385EEC1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966C"/>
                </a:solidFill>
              </a:defRPr>
            </a:pPr>
            <a:r>
              <a:rPr sz="1050" b="1">
                <a:solidFill>
                  <a:srgbClr val="00966C"/>
                </a:solidFill>
              </a:rPr>
              <a:t>FINANCEIRO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80B14-E894-460A-9717-DDC975FE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2A"/>
                </a:solidFill>
              </a:defRPr>
            </a:pPr>
            <a:r>
              <a:rPr sz="2700" b="1">
                <a:solidFill>
                  <a:srgbClr val="0B1F2A"/>
                </a:solidFill>
              </a:rPr>
              <a:t>A aprovação cria o lançamento financeiro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B36DF-DF4D-4C7C-B10B-57B8A1C3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3FB16-A49E-46BF-B3BA-D021AF8B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52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Compras • Fiscal • Fin.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0C994-66A6-40EE-A438-F73A3C49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Fluxo de Pedidos Fiscais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F1608-1ED8-47BC-B0FA-1FCEA30D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966C"/>
                </a:solidFill>
              </a:defRPr>
            </a:pPr>
            <a:r>
              <a:rPr sz="1350" b="1">
                <a:solidFill>
                  <a:srgbClr val="00966C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C2F01-801C-45BB-A02D-13179B56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058150" cy="4610100"/>
          </a:xfrm>
          <a:prstGeom xmlns:a="http://schemas.openxmlformats.org/drawingml/2006/main" prst="roundRect">
            <a:avLst>
              <a:gd name="adj" fmla="val 2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00b863c974dd0"/>
          <a:srcRect xmlns:a="http://schemas.openxmlformats.org/drawingml/2006/main" l="3956" t="0" r="39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447800"/>
            <a:ext cx="7905750" cy="4457700"/>
          </a:xfrm>
          <a:prstGeom xmlns:a="http://schemas.openxmlformats.org/drawingml/2006/main" prst="roundRect">
            <a:avLst>
              <a:gd name="adj" fmla="val 17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59F75-012C-48AE-9EFB-AEB869C0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4171950" cy="514350"/>
          </a:xfrm>
          <a:prstGeom xmlns:a="http://schemas.openxmlformats.org/drawingml/2006/main" prst="roundRect">
            <a:avLst>
              <a:gd name="adj" fmla="val 14815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EF44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D0840-0E3E-408E-8538-A3B59CC9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95750"/>
            <a:ext cx="2552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Despesa gerada pelo pedido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41EF3-56D4-4E21-9145-B7E5575D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6670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2A"/>
                </a:solidFill>
              </a:defRPr>
            </a:pPr>
            <a:r>
              <a:rPr sz="1350" b="0">
                <a:solidFill>
                  <a:srgbClr val="0B1F2A"/>
                </a:solidFill>
              </a:rPr>
              <a:t>• Pedido aprovado vira despesa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F2A"/>
                </a:solidFill>
              </a:defRPr>
            </a:pPr>
            <a:r>
              <a:rPr sz="1350" b="0">
                <a:solidFill>
                  <a:srgbClr val="0B1F2A"/>
                </a:solidFill>
              </a:rPr>
              <a:t>• Vencimento fica visível no financeiro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F2A"/>
                </a:solidFill>
              </a:defRPr>
            </a:pPr>
            <a:r>
              <a:rPr sz="1350" b="0">
                <a:solidFill>
                  <a:srgbClr val="0B1F2A"/>
                </a:solidFill>
              </a:rPr>
              <a:t>• Status indica pago, pendente ou vencimento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F2A"/>
                </a:solidFill>
              </a:defRPr>
            </a:pPr>
            <a:r>
              <a:rPr sz="1350" b="0">
                <a:solidFill>
                  <a:srgbClr val="0B1F2A"/>
                </a:solidFill>
              </a:rPr>
              <a:t>• Conta só é obrigatória na baixa do pagamento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089B3-5A9F-462E-8ABD-1EDAA373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38600"/>
            <a:ext cx="2781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50380-D122-490E-917A-477B3084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005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9DC7A-5820-4F08-984C-B1D58401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100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Importante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795A1-A672-4710-8846-B8486108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91050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O usuário deve cair na tela conhecida de Lançamentos Financeiros, não em uma tela isolada de despesas.</a:t>
            </a:r>
          </a:p>
        </p:txBody>
      </p:sp>
    </p:spTree>
    <p:extLst>
      <p:ext uri="{BB962C8B-B14F-4D97-AF65-F5344CB8AC3E}">
        <p14:creationId xmlns:p14="http://schemas.microsoft.com/office/powerpoint/2010/main" val="19899177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5A39B-C88B-407D-8B7F-78750AB9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966C"/>
                </a:solidFill>
              </a:defRPr>
            </a:pPr>
            <a:r>
              <a:rPr sz="1050" b="1">
                <a:solidFill>
                  <a:srgbClr val="00966C"/>
                </a:solidFill>
              </a:rPr>
              <a:t>EDIÇÃO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60F27-F61C-4E73-B4CA-95122023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2A"/>
                </a:solidFill>
              </a:defRPr>
            </a:pPr>
            <a:r>
              <a:rPr sz="2700" b="1">
                <a:solidFill>
                  <a:srgbClr val="0B1F2A"/>
                </a:solidFill>
              </a:rPr>
              <a:t>A despesa é conferida em modal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36578-987B-49A3-B264-7F37DEA2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70FDF-E825-4D19-8B0E-F5B2F8BA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52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Compras • Fiscal • Fin.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F83FC-BE6B-4AF9-8FE9-C097DF14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Fluxo de Pedidos Fiscais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6A471-1523-44AC-867E-B1BB127A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966C"/>
                </a:solidFill>
              </a:defRPr>
            </a:pPr>
            <a:r>
              <a:rPr sz="1350" b="1">
                <a:solidFill>
                  <a:srgbClr val="00966C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B3688-6A27-4B66-AA2D-70AFB74A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267450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52ab667da4704"/>
          <a:stretch xmlns:a="http://schemas.openxmlformats.org/drawingml/2006/main"/>
        </p:blipFill>
        <p:spPr>
          <a:xfrm xmlns:a="http://schemas.openxmlformats.org/drawingml/2006/main">
            <a:off x="685800" y="2023830"/>
            <a:ext cx="6115050" cy="3229440"/>
          </a:xfrm>
          <a:prstGeom xmlns:a="http://schemas.openxmlformats.org/drawingml/2006/main" prst="roundRect">
            <a:avLst>
              <a:gd name="adj" fmla="val 172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A3D74-29FE-4469-951D-357FA958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2762250" cy="1123950"/>
          </a:xfrm>
          <a:prstGeom xmlns:a="http://schemas.openxmlformats.org/drawingml/2006/main" prst="roundRect">
            <a:avLst>
              <a:gd name="adj" fmla="val 6780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EF44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83166-39A0-42BA-A143-ED776A66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4320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Vencimento e baixa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57D11-4BCE-4BA4-A20D-2CB864C6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543050"/>
            <a:ext cx="3714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6323B-AE28-4276-AC76-2DD10AA1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14500"/>
            <a:ext cx="76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3651D-16AE-4DA8-B6A2-45840C63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1450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O que conferir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1F4AB-F3AE-4754-9436-69112EA8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Descrição, fornecedor, categoria, safra, valor, vencimento, forma de pagamento e NF vinculada.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A0692-5DE5-4F1F-8DC2-3194CBF2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67050"/>
            <a:ext cx="3714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A4F99E-E96B-4D85-9392-601E47E4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38500"/>
            <a:ext cx="762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C6706-C37B-4EB1-ABE9-17563271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3850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Baixa posterior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19EE3-9BC6-48B3-BFA6-A5489529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195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Enquanto o dinheiro não saiu, a despesa permanece pendente. O pagamento é confirmado depois.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CFA82-94EB-4C77-B8D8-37A06319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1485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5DD20-A475-470A-BC8E-1E2B03A9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86300"/>
            <a:ext cx="762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A9177F-5E29-407F-9FE3-28FA2E1E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8630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Padrão visual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C596C6-062A-4C14-B782-3E0F10DD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6730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Modal flutuante, alinhado, com cancelar à esquerda e ação principal à direita.</a:t>
            </a:r>
          </a:p>
        </p:txBody>
      </p:sp>
    </p:spTree>
    <p:extLst>
      <p:ext uri="{BB962C8B-B14F-4D97-AF65-F5344CB8AC3E}">
        <p14:creationId xmlns:p14="http://schemas.microsoft.com/office/powerpoint/2010/main" val="15210114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D9783A-04B4-4C55-8CB1-3AC9492D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966C"/>
                </a:solidFill>
              </a:defRPr>
            </a:pPr>
            <a:r>
              <a:rPr sz="1050" b="1">
                <a:solidFill>
                  <a:srgbClr val="00966C"/>
                </a:solidFill>
              </a:rPr>
              <a:t>PAGAMENTO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5AF7D-02FF-41F0-A38E-C33DEFC2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2A"/>
                </a:solidFill>
              </a:defRPr>
            </a:pPr>
            <a:r>
              <a:rPr sz="2700" b="1">
                <a:solidFill>
                  <a:srgbClr val="0B1F2A"/>
                </a:solidFill>
              </a:rPr>
              <a:t>A baixa exige a conta real usada no pagamento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B20A5-A05F-4023-BF8D-E8E26A54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A98C5-0145-4625-8CCF-BD60AECA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52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Compras • Fiscal • Fin.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CED6A-7EF7-4812-84B9-74FEAC54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Fluxo de Pedidos Fiscais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5491A-A3B6-42B0-88B5-D9013666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966C"/>
                </a:solidFill>
              </a:defRPr>
            </a:pPr>
            <a:r>
              <a:rPr sz="1350" b="1">
                <a:solidFill>
                  <a:srgbClr val="00966C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47249-D958-464C-A336-5EF6140B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267450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db9bbe7eb4344"/>
          <a:stretch xmlns:a="http://schemas.openxmlformats.org/drawingml/2006/main"/>
        </p:blipFill>
        <p:spPr>
          <a:xfrm xmlns:a="http://schemas.openxmlformats.org/drawingml/2006/main">
            <a:off x="685800" y="2035311"/>
            <a:ext cx="6115050" cy="3206477"/>
          </a:xfrm>
          <a:prstGeom xmlns:a="http://schemas.openxmlformats.org/drawingml/2006/main" prst="roundRect">
            <a:avLst>
              <a:gd name="adj" fmla="val 172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D2760-587D-498F-810C-33E85877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00400"/>
            <a:ext cx="2724150" cy="819150"/>
          </a:xfrm>
          <a:prstGeom xmlns:a="http://schemas.openxmlformats.org/drawingml/2006/main" prst="roundRect">
            <a:avLst>
              <a:gd name="adj" fmla="val 9302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EF44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82A00-1BC1-4DEF-86A5-72E0025C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00350"/>
            <a:ext cx="2209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Conta real obrigatória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1CF44-7F58-4395-8397-059CE354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81150"/>
            <a:ext cx="3771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49D85-5DFC-4F96-ACEA-DA77B28A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52600"/>
            <a:ext cx="76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C32B2-315B-40A2-8093-669E5B66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5260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Regra de baixa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6E71C-16F7-4049-AADE-774CFF57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33600"/>
            <a:ext cx="321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Sem conta ativa selecionada, o sistema bloqueia a confirmação do pagamento.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09ED8-6C95-40C8-B48B-4060B0A9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3771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79FFC-163D-43CE-9ED4-FCD18842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A9721-C55E-4D42-97A0-1F1B1DC8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194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Saldo visível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8363A-2F50-4BCA-85A8-0659FEAC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00450"/>
            <a:ext cx="321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Ao selecionar a conta, o saldo aparece. Se estiver negativo ou insuficiente, o usuário recebe aviso antes de confirmar.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FF5EF-BEF5-4A01-8301-B5671D30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3771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1B348-B092-4C7B-9807-D7BF6BB6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7200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29D84-1222-4D2E-87F4-EC7E945D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Controle bancário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0F9F1-8489-4F38-8A05-53295957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A baixa alimenta o saldo da conta e o relatório de entradas e saídas.</a:t>
            </a:r>
          </a:p>
        </p:txBody>
      </p:sp>
    </p:spTree>
    <p:extLst>
      <p:ext uri="{BB962C8B-B14F-4D97-AF65-F5344CB8AC3E}">
        <p14:creationId xmlns:p14="http://schemas.microsoft.com/office/powerpoint/2010/main" val="17695801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8E662-0D5A-4DC9-8E78-E074A3E4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966C"/>
                </a:solidFill>
              </a:defRPr>
            </a:pPr>
            <a:r>
              <a:rPr sz="1050" b="1">
                <a:solidFill>
                  <a:srgbClr val="00966C"/>
                </a:solidFill>
              </a:rPr>
              <a:t>CONTAS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04184-4989-4D63-A888-0F323491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2A"/>
                </a:solidFill>
              </a:defRPr>
            </a:pPr>
            <a:r>
              <a:rPr sz="2700" b="1">
                <a:solidFill>
                  <a:srgbClr val="0B1F2A"/>
                </a:solidFill>
              </a:rPr>
              <a:t>Contas bancárias fecham o rastreio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FCE58-3F21-4FEC-8C9F-69BD08D4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8C6FB-9D03-40B0-8926-066AAD68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52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Compras • Fiscal • Fin.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D5F81-C619-4B80-8C46-EBC6B845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Fluxo de Pedidos Fiscais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9C7FE-02D0-4C95-843B-1C637217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966C"/>
                </a:solidFill>
              </a:defRPr>
            </a:pPr>
            <a:r>
              <a:rPr sz="1350" b="1">
                <a:solidFill>
                  <a:srgbClr val="00966C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BBBED-80D2-4FE0-A767-3C68A7D7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8105775" cy="4610100"/>
          </a:xfrm>
          <a:prstGeom xmlns:a="http://schemas.openxmlformats.org/drawingml/2006/main" prst="roundRect">
            <a:avLst>
              <a:gd name="adj" fmla="val 2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e6b4b12924bbd"/>
          <a:srcRect xmlns:a="http://schemas.openxmlformats.org/drawingml/2006/main" l="6404" t="0" r="64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428750"/>
            <a:ext cx="7953375" cy="4457700"/>
          </a:xfrm>
          <a:prstGeom xmlns:a="http://schemas.openxmlformats.org/drawingml/2006/main" prst="roundRect">
            <a:avLst>
              <a:gd name="adj" fmla="val 17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B489B-E91D-4785-ABD6-B8F4F0C0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09950"/>
            <a:ext cx="2724150" cy="1695450"/>
          </a:xfrm>
          <a:prstGeom xmlns:a="http://schemas.openxmlformats.org/drawingml/2006/main" prst="roundRect">
            <a:avLst>
              <a:gd name="adj" fmla="val 4494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EF44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0DEB8-D912-47C4-9AAF-1F9E7297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09900"/>
            <a:ext cx="238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Transferências e valores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40853-8468-4E34-9C4C-7DD3133C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76400"/>
            <a:ext cx="2647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2A"/>
                </a:solidFill>
              </a:defRPr>
            </a:pPr>
            <a:r>
              <a:rPr sz="1350" b="0">
                <a:solidFill>
                  <a:srgbClr val="0B1F2A"/>
                </a:solidFill>
              </a:rPr>
              <a:t>• Saldo total por propriedade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F2A"/>
                </a:solidFill>
              </a:defRPr>
            </a:pPr>
            <a:r>
              <a:rPr sz="1350" b="0">
                <a:solidFill>
                  <a:srgbClr val="0B1F2A"/>
                </a:solidFill>
              </a:rPr>
              <a:t>• Contas e caixas ativos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F2A"/>
                </a:solidFill>
              </a:defRPr>
            </a:pPr>
            <a:r>
              <a:rPr sz="1350" b="0">
                <a:solidFill>
                  <a:srgbClr val="0B1F2A"/>
                </a:solidFill>
              </a:rPr>
              <a:t>• Transferências recentes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F2A"/>
                </a:solidFill>
              </a:defRPr>
            </a:pPr>
            <a:r>
              <a:rPr sz="1350" b="0">
                <a:solidFill>
                  <a:srgbClr val="0B1F2A"/>
                </a:solidFill>
              </a:rPr>
              <a:t>• Histórico de origem, destino e valor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F159B-84B0-4BA6-84AA-5068222E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81450"/>
            <a:ext cx="2724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BCA3B-A2A0-425A-9C8B-380C2B18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5290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3A0EF-C947-427E-A114-9732D01B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529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Relatório necessário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A654A-AA2F-4070-8CC4-39666CBD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3390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Entradas e saídas por conta devem cruzar despesas pagas, receitas recebidas e transferências internas.</a:t>
            </a:r>
          </a:p>
        </p:txBody>
      </p:sp>
    </p:spTree>
    <p:extLst>
      <p:ext uri="{BB962C8B-B14F-4D97-AF65-F5344CB8AC3E}">
        <p14:creationId xmlns:p14="http://schemas.microsoft.com/office/powerpoint/2010/main" val="11662425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CF949D-24D6-4CC4-805D-967BDCC2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966C"/>
                </a:solidFill>
              </a:defRPr>
            </a:pPr>
            <a:r>
              <a:rPr sz="1050" b="1">
                <a:solidFill>
                  <a:srgbClr val="00966C"/>
                </a:solidFill>
              </a:rPr>
              <a:t>RASTREABILIDADE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5B3C0-4265-4AAE-94E7-75FF3B81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2A"/>
                </a:solidFill>
              </a:defRPr>
            </a:pPr>
            <a:r>
              <a:rPr sz="2700" b="1">
                <a:solidFill>
                  <a:srgbClr val="0B1F2A"/>
                </a:solidFill>
              </a:rPr>
              <a:t>Auditoria mantém histórico verificável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C91D2-A2C5-47F1-AF1B-67A693AA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83A1D-8CC1-4CA6-B17A-8D7EA9BA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52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Compras • Fiscal • Fin.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97E20-B923-459B-884F-34594EC0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Fluxo de Pedidos Fiscais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461B7-62D8-48EB-97B0-788C061C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966C"/>
                </a:solidFill>
              </a:defRPr>
            </a:pPr>
            <a:r>
              <a:rPr sz="1350" b="1">
                <a:solidFill>
                  <a:srgbClr val="00966C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F76B8-BD78-4E9F-8082-81200EA6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B60E5-68FD-450C-BAE0-520F1398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5C17E-100C-4AB2-BA96-D9F8C449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3355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Quem fez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80AB3-D724-44FD-9EED-203C26F6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Usuário logado, propriedade, rota, método HTTP, IP real, proxy e agente do navegador.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0C57F-5843-455F-BB6C-8AB02AC5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62100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6435D-1DB1-4880-A426-AACC9418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3355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7CC99-8200-477D-8239-9858E278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3355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O que fez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DCFCC-8D52-4FD9-84F4-03E4650A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Criou pedido, aprovou, rejeitou, vinculou NF, gerou despesa ou baixou pagamento.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17392-A30A-44E7-BB2A-24B090DD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33A45-04AA-4D17-8443-6E746C32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50A039-D77F-4BD0-8887-D7650A48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O que mudou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38076-8206-45CE-834A-7BAC158C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766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Antes e depois nas alterações relevantes, sem registrar senha ou conteúdo sensível.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9BB00-89BF-47FC-82C9-0298500D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24200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D1909E-FA1C-485F-ACD5-B8218383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9565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3E0343-E1F9-4915-B71D-48F487EC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9565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Onde consultar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9F4372-3EBF-465E-9B92-EFB0049D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76650"/>
            <a:ext cx="421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Módulo Auditoria filtra por propriedade, usuário, período, tabela, ação e texto.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49945-35F1-4D72-943A-F2F387FB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29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1F2A"/>
                </a:solidFill>
              </a:defRPr>
            </a:pPr>
            <a:r>
              <a:rPr sz="1650" b="1">
                <a:solidFill>
                  <a:srgbClr val="0B1F2A"/>
                </a:solidFill>
              </a:rPr>
              <a:t>Resultado: se houver dúvida sobre compra, NF ou pagamento, o sistema mostra o rastro completo sem depender de memória operacional.</a:t>
            </a:r>
          </a:p>
        </p:txBody>
      </p:sp>
    </p:spTree>
    <p:extLst>
      <p:ext uri="{BB962C8B-B14F-4D97-AF65-F5344CB8AC3E}">
        <p14:creationId xmlns:p14="http://schemas.microsoft.com/office/powerpoint/2010/main" val="17672723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56EEE-72A8-4A97-8C2D-351A8CC7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966C"/>
                </a:solidFill>
              </a:defRPr>
            </a:pPr>
            <a:r>
              <a:rPr sz="1050" b="1">
                <a:solidFill>
                  <a:srgbClr val="00966C"/>
                </a:solidFill>
              </a:rPr>
              <a:t>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8F837-9697-4892-9778-3CC29EF1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2A"/>
                </a:solidFill>
              </a:defRPr>
            </a:pPr>
            <a:r>
              <a:rPr sz="2700" b="1">
                <a:solidFill>
                  <a:srgbClr val="0B1F2A"/>
                </a:solidFill>
              </a:rPr>
              <a:t>Roteiro recomendado para operar o fluxo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33DD9-61B1-4C33-B29F-6A0B4D07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E1F2F-2F9E-4CE9-9C64-84735A92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52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Compras • Fiscal • Fin.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B1AD5-6E8F-4849-9A7B-BA337B6C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Fluxo de Pedidos Fiscais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5BD9E-E2B1-4D98-9EEE-65275A58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966C"/>
                </a:solidFill>
              </a:defRPr>
            </a:pPr>
            <a:r>
              <a:rPr sz="1350" b="1">
                <a:solidFill>
                  <a:srgbClr val="00966C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262F0-07B8-4926-8970-43069BBB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81150"/>
            <a:ext cx="742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B1F2A"/>
                </a:solidFill>
              </a:defRPr>
            </a:pPr>
            <a:r>
              <a:rPr sz="1650" b="0">
                <a:solidFill>
                  <a:srgbClr val="0B1F2A"/>
                </a:solidFill>
              </a:rPr>
              <a:t>1. Criar pedido fiscal em Compras com fornecedor, CNPJ e itens.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B1F2A"/>
                </a:solidFill>
              </a:defRPr>
            </a:pPr>
            <a:r>
              <a:rPr sz="1650" b="0">
                <a:solidFill>
                  <a:srgbClr val="0B1F2A"/>
                </a:solidFill>
              </a:rPr>
              <a:t>2. Vincular ou importar NF quando ela já existir antes da aprovação.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B1F2A"/>
                </a:solidFill>
              </a:defRPr>
            </a:pPr>
            <a:r>
              <a:rPr sz="1650" b="0">
                <a:solidFill>
                  <a:srgbClr val="0B1F2A"/>
                </a:solidFill>
              </a:rPr>
              <a:t>3. Gestor aprova ou rejeita; divergências exigem confirmação.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B1F2A"/>
                </a:solidFill>
              </a:defRPr>
            </a:pPr>
            <a:r>
              <a:rPr sz="1650" b="0">
                <a:solidFill>
                  <a:srgbClr val="0B1F2A"/>
                </a:solidFill>
              </a:rPr>
              <a:t>4. Pedido aprovado gera despesa no financeiro com vencimento.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B1F2A"/>
                </a:solidFill>
              </a:defRPr>
            </a:pPr>
            <a:r>
              <a:rPr sz="1650" b="0">
                <a:solidFill>
                  <a:srgbClr val="0B1F2A"/>
                </a:solidFill>
              </a:rPr>
              <a:t>5. Conferir despesa antes da baixa: valor, vencimento, categoria, safra e NF.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B1F2A"/>
                </a:solidFill>
              </a:defRPr>
            </a:pPr>
            <a:r>
              <a:rPr sz="1650" b="0">
                <a:solidFill>
                  <a:srgbClr val="0B1F2A"/>
                </a:solidFill>
              </a:rPr>
              <a:t>6. Confirmar pagamento somente quando o dinheiro sair da conta real.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B1F2A"/>
                </a:solidFill>
              </a:defRPr>
            </a:pPr>
            <a:r>
              <a:rPr sz="1650" b="0">
                <a:solidFill>
                  <a:srgbClr val="0B1F2A"/>
                </a:solidFill>
              </a:rPr>
              <a:t>7. Consultar contas bancárias e auditoria para fechar o rastreio.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7E6FE-899F-4BB2-AE94-2EDDA06C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81150"/>
            <a:ext cx="23622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82BE5-BEDD-449B-9C02-D8FB5E79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B1EFF-104F-4809-A3BA-A024FBC9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52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Decisão para validar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45E94-A07E-42BC-985A-47A675E5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336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O solicitante deve aprovar se este fluxo representa a operação real da fazenda.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E9423-39EE-45DE-B081-EEB352ED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43300"/>
            <a:ext cx="23622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ED3C7-F325-4D59-B8A9-22D73D0D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76200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2D43A-6580-4185-A1B0-892D4FD3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14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2A"/>
                </a:solidFill>
              </a:defRPr>
            </a:pPr>
            <a:r>
              <a:rPr sz="1350" b="1">
                <a:solidFill>
                  <a:srgbClr val="0B1F2A"/>
                </a:solidFill>
              </a:rPr>
              <a:t>Depois da aprovação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EC11B-A641-419E-B9B8-19A1C4D8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957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A equipe segue refinando relatórios, NF e usabilidade sem quebrar as regras.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76127-3B5D-4FE2-8C33-B4CF19E6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620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66C"/>
          </a:solidFill>
          <a:ln xmlns:a="http://schemas.openxmlformats.org/drawingml/2006/main" w="0">
            <a:solidFill>
              <a:srgbClr val="0096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Fluxo simples para o usuário, forte para controle e auditoria</a:t>
            </a:r>
          </a:p>
        </p:txBody>
      </p:sp>
    </p:spTree>
    <p:extLst>
      <p:ext uri="{BB962C8B-B14F-4D97-AF65-F5344CB8AC3E}">
        <p14:creationId xmlns:p14="http://schemas.microsoft.com/office/powerpoint/2010/main" val="1455778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2026-07-16T12:09:02.6350000Z</dcterms:created>
  <dcterms:modified xsi:type="dcterms:W3CDTF">2026-07-16T12:09:02.6350000Z</dcterms:modified>
</coreProperties>
</file>